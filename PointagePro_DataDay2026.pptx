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02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HEXSEC   ·   DATA DAY 2026   ·   HACKATHON DEV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594360" y="141732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Pointage</a:t>
            </a:r>
            <a:pPr indent="0" marL="0">
              <a:buNone/>
            </a:pPr>
            <a:r>
              <a:rPr lang="en-US" sz="6600" b="1" spc="2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640080" y="26974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présence de vos équipes, jamais interrompue.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3127248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pointage qui n'attend pas le réseau pour exister.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3794760"/>
            <a:ext cx="457200" cy="457200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8" name="Image 1" descr="q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90448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381304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971800" y="3794760"/>
            <a:ext cx="457200" cy="457200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11" name="Image 2" descr="ge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528" y="39044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566160" y="381304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GÉOLOCALISATION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303520" y="3794760"/>
            <a:ext cx="457200" cy="457200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14" name="Image 3" descr="wif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390448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97880" y="3813048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40080" y="4617720"/>
            <a:ext cx="6537960" cy="502920"/>
          </a:xfrm>
          <a:prstGeom prst="roundRect">
            <a:avLst>
              <a:gd name="adj" fmla="val 14545"/>
            </a:avLst>
          </a:prstGeom>
          <a:solidFill>
            <a:srgbClr val="1C1C1C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40080" y="4617720"/>
            <a:ext cx="6537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pPr algn="ctr" indent="0" marL="0">
              <a:buNone/>
            </a:pPr>
            <a:r>
              <a:rPr lang="en-US" sz="130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pPr algn="ctr" indent="0" marL="0">
              <a:buNone/>
            </a:pPr>
            <a:r>
              <a:rPr lang="en-US" sz="130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pPr algn="ctr" indent="0" marL="0">
              <a:buNone/>
            </a:pPr>
            <a:r>
              <a:rPr lang="en-US" sz="1300" i="1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une seule base de code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  </a:t>
            </a:r>
            <a:pPr indent="0" marL="0">
              <a:buNone/>
            </a:pPr>
            <a:r>
              <a:rPr lang="en-US" sz="120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Meddy · Rajo · Mario · Kiady · Rio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HEXSEC  ·  POINTAGEPRO  ·  DATA DAY 2026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pic>
        <p:nvPicPr>
          <p:cNvPr id="21" name="Image 4" descr="visu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96012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couvre ce dossier technique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719072"/>
            <a:ext cx="420624" cy="420624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6" name="Image 1" descr="war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1820022"/>
            <a:ext cx="218724" cy="2187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115568" y="167335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contexte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115568" y="198424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pointage échoue aujourd'hui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48640" y="2505456"/>
            <a:ext cx="420624" cy="420624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11" name="Image 2" descr="bullsey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2606406"/>
            <a:ext cx="218724" cy="21872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43230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1115568" y="2459736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solution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15568" y="277063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de PointagePro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548640" y="3291840"/>
            <a:ext cx="420624" cy="420624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16" name="Image 3" descr="sitema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3392790"/>
            <a:ext cx="218724" cy="2187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32186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1115568" y="32461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115568" y="355701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couches techniques du système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4078224"/>
            <a:ext cx="420624" cy="420624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21" name="Image 4" descr="cub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90" y="4179174"/>
            <a:ext cx="218724" cy="2187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5840" y="40050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115568" y="403250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technologique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115568" y="43434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Langages, frameworks, outils</a:t>
            </a:r>
            <a:endParaRPr lang="en-US" sz="1050" dirty="0"/>
          </a:p>
        </p:txBody>
      </p:sp>
      <p:sp>
        <p:nvSpPr>
          <p:cNvPr id="25" name="Shape 18"/>
          <p:cNvSpPr/>
          <p:nvPr/>
        </p:nvSpPr>
        <p:spPr>
          <a:xfrm>
            <a:off x="548640" y="4864608"/>
            <a:ext cx="420624" cy="420624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26" name="Image 5" descr="sync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90" y="4965558"/>
            <a:ext cx="218724" cy="21872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5840" y="479145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0"/>
          <p:cNvSpPr/>
          <p:nvPr/>
        </p:nvSpPr>
        <p:spPr>
          <a:xfrm>
            <a:off x="1115568" y="481888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115568" y="5129784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cycle scan → stockage → sync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548640" y="5650992"/>
            <a:ext cx="420624" cy="420624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31" name="Image 6" descr="usershiel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590" y="5751942"/>
            <a:ext cx="218724" cy="21872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05840" y="5577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24"/>
          <p:cNvSpPr/>
          <p:nvPr/>
        </p:nvSpPr>
        <p:spPr>
          <a:xfrm>
            <a:off x="1115568" y="560527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&amp; identité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1115568" y="591616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QR, authentification, données</a:t>
            </a:r>
            <a:endParaRPr lang="en-US" sz="1050" dirty="0"/>
          </a:p>
        </p:txBody>
      </p:sp>
      <p:sp>
        <p:nvSpPr>
          <p:cNvPr id="35" name="Shape 26"/>
          <p:cNvSpPr/>
          <p:nvPr/>
        </p:nvSpPr>
        <p:spPr>
          <a:xfrm>
            <a:off x="6309360" y="1719072"/>
            <a:ext cx="420624" cy="420624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36" name="Image 7" descr="ge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10" y="1820022"/>
            <a:ext cx="218724" cy="218724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76656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38" name="Text 28"/>
          <p:cNvSpPr/>
          <p:nvPr/>
        </p:nvSpPr>
        <p:spPr>
          <a:xfrm>
            <a:off x="6876288" y="167335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Géolocalisation</a:t>
            </a:r>
            <a:endParaRPr lang="en-US" sz="1400" dirty="0"/>
          </a:p>
        </p:txBody>
      </p:sp>
      <p:sp>
        <p:nvSpPr>
          <p:cNvPr id="39" name="Text 29"/>
          <p:cNvSpPr/>
          <p:nvPr/>
        </p:nvSpPr>
        <p:spPr>
          <a:xfrm>
            <a:off x="6876288" y="198424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automatique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6309360" y="2505456"/>
            <a:ext cx="420624" cy="420624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41" name="Image 8" descr="chart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10310" y="2606406"/>
            <a:ext cx="218724" cy="218724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766560" y="243230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43" name="Text 32"/>
          <p:cNvSpPr/>
          <p:nvPr/>
        </p:nvSpPr>
        <p:spPr>
          <a:xfrm>
            <a:off x="6876288" y="2459736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exports</a:t>
            </a:r>
            <a:endParaRPr lang="en-US" sz="1400" dirty="0"/>
          </a:p>
        </p:txBody>
      </p:sp>
      <p:sp>
        <p:nvSpPr>
          <p:cNvPr id="44" name="Text 33"/>
          <p:cNvSpPr/>
          <p:nvPr/>
        </p:nvSpPr>
        <p:spPr>
          <a:xfrm>
            <a:off x="6876288" y="2770632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pilotage côté manager</a:t>
            </a:r>
            <a:endParaRPr lang="en-US" sz="1050" dirty="0"/>
          </a:p>
        </p:txBody>
      </p:sp>
      <p:sp>
        <p:nvSpPr>
          <p:cNvPr id="45" name="Shape 34"/>
          <p:cNvSpPr/>
          <p:nvPr/>
        </p:nvSpPr>
        <p:spPr>
          <a:xfrm>
            <a:off x="6309360" y="3291840"/>
            <a:ext cx="420624" cy="420624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46" name="Image 9" descr="glob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310" y="3392790"/>
            <a:ext cx="218724" cy="218724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6766560" y="32186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  <p:sp>
        <p:nvSpPr>
          <p:cNvPr id="48" name="Text 36"/>
          <p:cNvSpPr/>
          <p:nvPr/>
        </p:nvSpPr>
        <p:spPr>
          <a:xfrm>
            <a:off x="6876288" y="32461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Multi-plateforme</a:t>
            </a:r>
            <a:endParaRPr lang="en-US" sz="1400" dirty="0"/>
          </a:p>
        </p:txBody>
      </p:sp>
      <p:sp>
        <p:nvSpPr>
          <p:cNvPr id="49" name="Text 37"/>
          <p:cNvSpPr/>
          <p:nvPr/>
        </p:nvSpPr>
        <p:spPr>
          <a:xfrm>
            <a:off x="6876288" y="3557016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Android, Desktop</a:t>
            </a:r>
            <a:endParaRPr lang="en-US" sz="1050" dirty="0"/>
          </a:p>
        </p:txBody>
      </p:sp>
      <p:sp>
        <p:nvSpPr>
          <p:cNvPr id="50" name="Shape 38"/>
          <p:cNvSpPr/>
          <p:nvPr/>
        </p:nvSpPr>
        <p:spPr>
          <a:xfrm>
            <a:off x="6309360" y="4078224"/>
            <a:ext cx="420624" cy="420624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51" name="Image 10" descr="scal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0310" y="4179174"/>
            <a:ext cx="218724" cy="218724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6766560" y="40050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  <p:sp>
        <p:nvSpPr>
          <p:cNvPr id="53" name="Text 40"/>
          <p:cNvSpPr/>
          <p:nvPr/>
        </p:nvSpPr>
        <p:spPr>
          <a:xfrm>
            <a:off x="6876288" y="403250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Comparatif marché</a:t>
            </a:r>
            <a:endParaRPr lang="en-US" sz="1400" dirty="0"/>
          </a:p>
        </p:txBody>
      </p:sp>
      <p:sp>
        <p:nvSpPr>
          <p:cNvPr id="54" name="Text 41"/>
          <p:cNvSpPr/>
          <p:nvPr/>
        </p:nvSpPr>
        <p:spPr>
          <a:xfrm>
            <a:off x="6876288" y="4343400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PointagePro face aux alternatives</a:t>
            </a:r>
            <a:endParaRPr lang="en-US" sz="1050" dirty="0"/>
          </a:p>
        </p:txBody>
      </p:sp>
      <p:sp>
        <p:nvSpPr>
          <p:cNvPr id="55" name="Shape 42"/>
          <p:cNvSpPr/>
          <p:nvPr/>
        </p:nvSpPr>
        <p:spPr>
          <a:xfrm>
            <a:off x="6309360" y="4864608"/>
            <a:ext cx="420624" cy="420624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56" name="Image 11" descr="coins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0310" y="4965558"/>
            <a:ext cx="218724" cy="218724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6766560" y="479145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  <p:sp>
        <p:nvSpPr>
          <p:cNvPr id="58" name="Text 44"/>
          <p:cNvSpPr/>
          <p:nvPr/>
        </p:nvSpPr>
        <p:spPr>
          <a:xfrm>
            <a:off x="6876288" y="481888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économique</a:t>
            </a:r>
            <a:endParaRPr lang="en-US" sz="1400" dirty="0"/>
          </a:p>
        </p:txBody>
      </p:sp>
      <p:sp>
        <p:nvSpPr>
          <p:cNvPr id="59" name="Text 45"/>
          <p:cNvSpPr/>
          <p:nvPr/>
        </p:nvSpPr>
        <p:spPr>
          <a:xfrm>
            <a:off x="6876288" y="5129784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Coûts réels de déploiement</a:t>
            </a:r>
            <a:endParaRPr lang="en-US" sz="1050" dirty="0"/>
          </a:p>
        </p:txBody>
      </p:sp>
      <p:sp>
        <p:nvSpPr>
          <p:cNvPr id="60" name="Shape 46"/>
          <p:cNvSpPr/>
          <p:nvPr/>
        </p:nvSpPr>
        <p:spPr>
          <a:xfrm>
            <a:off x="6309360" y="5650992"/>
            <a:ext cx="420624" cy="420624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61" name="Image 12" descr="route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0310" y="5751942"/>
            <a:ext cx="218724" cy="218724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6766560" y="55778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  <p:sp>
        <p:nvSpPr>
          <p:cNvPr id="63" name="Text 48"/>
          <p:cNvSpPr/>
          <p:nvPr/>
        </p:nvSpPr>
        <p:spPr>
          <a:xfrm>
            <a:off x="6876288" y="560527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 dirty="0"/>
          </a:p>
        </p:txBody>
      </p:sp>
      <p:sp>
        <p:nvSpPr>
          <p:cNvPr id="64" name="Text 49"/>
          <p:cNvSpPr/>
          <p:nvPr/>
        </p:nvSpPr>
        <p:spPr>
          <a:xfrm>
            <a:off x="6876288" y="5916168"/>
            <a:ext cx="4846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Sécurité, cloud, publication</a:t>
            </a:r>
            <a:endParaRPr lang="en-US" sz="1050" dirty="0"/>
          </a:p>
        </p:txBody>
      </p:sp>
      <p:sp>
        <p:nvSpPr>
          <p:cNvPr id="65" name="Text 5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HEXSEC  ·  POINTAGEPRO  ·  DATA DAY 2026</a:t>
            </a:r>
            <a:endParaRPr lang="en-US" sz="850" dirty="0"/>
          </a:p>
        </p:txBody>
      </p:sp>
      <p:sp>
        <p:nvSpPr>
          <p:cNvPr id="66" name="Text 5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coupure ne devrait jamais coûter une présence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courant et le réseau lâchent toujours au pire moment. Chaque coupure devient une donnée perdue — et cinq causes structurelles expliquent pourquoi personne ne l'avait réglé pour les PME malgaches.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2276856"/>
            <a:ext cx="457200" cy="45720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8" name="Image 1" descr="war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38658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203704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papier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343400" y="2203704"/>
            <a:ext cx="7086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perd, se falsifie, et ne laisse aucune preuve exploitable en cas de litige.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2990088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7240" y="3118104"/>
            <a:ext cx="457200" cy="45720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13" name="Image 2" descr="mone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2278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044952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badgeuses physiques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343400" y="3044952"/>
            <a:ext cx="7086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Coûtent 300 à 800 $ l'unité, exigent une installation électrique, et deviennent inutilisables sur un site isolé.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3831336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3959352"/>
            <a:ext cx="457200" cy="45720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18" name="Image 3" descr="plu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06908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88620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numérique classique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4343400" y="3886200"/>
            <a:ext cx="7086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 une connexion permanente — un luxe que le réseau malgache ne garantit pas toujours.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4672584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777240" y="4800600"/>
            <a:ext cx="457200" cy="45720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23" name="Image 4" descr="build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910328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4727448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solutions existantes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4343400" y="4727448"/>
            <a:ext cx="7086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 pensées et facturées pour de grandes entreprises internationales, pas pour une PME au budget limité.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48640" y="5513832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77240" y="5641848"/>
            <a:ext cx="457200" cy="45720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28" name="Image 5" descr="chartpi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5751576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63040" y="5568696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présence perdue</a:t>
            </a:r>
            <a:endParaRPr lang="en-US" sz="1350" dirty="0"/>
          </a:p>
        </p:txBody>
      </p:sp>
      <p:sp>
        <p:nvSpPr>
          <p:cNvPr id="30" name="Text 22"/>
          <p:cNvSpPr/>
          <p:nvPr/>
        </p:nvSpPr>
        <p:spPr>
          <a:xfrm>
            <a:off x="4343400" y="5568696"/>
            <a:ext cx="7086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Coûte de l'argent, du temps de gestion, et la confiance des équipes envers l'outil.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HEXSEC  ·  POINTAGEPRO  ·  DATA DAY 2026</a:t>
            </a:r>
            <a:endParaRPr lang="en-US" sz="850" dirty="0"/>
          </a:p>
        </p:txBody>
      </p:sp>
      <p:sp>
        <p:nvSpPr>
          <p:cNvPr id="32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PointagePro — un terminal de pointage dans chaque poche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QR Code · position GPS · fonctionne hors-ligne · synchronisation automatique au retour du réseau. Connecté ou non, chaque employé pointe en deux secondes.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3566160" cy="3429000"/>
          </a:xfrm>
          <a:prstGeom prst="roundRect">
            <a:avLst>
              <a:gd name="adj" fmla="val 2400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65960" y="2468880"/>
            <a:ext cx="731520" cy="73152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8" name="Image 1" descr="q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26517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33832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Scanner QR Code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822960" y="39776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employé possède un QR code personnel, unique et téléchargeable. Le scan se fait via la caméra native de l'app ou celle du navigateur — reconnaissance instantanée.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15968" y="2148840"/>
            <a:ext cx="3566160" cy="3429000"/>
          </a:xfrm>
          <a:prstGeom prst="roundRect">
            <a:avLst>
              <a:gd name="adj" fmla="val 2400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733288" y="2468880"/>
            <a:ext cx="731520" cy="73152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13" name="Image 2" descr="ge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265176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44568" y="33832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Géolocalisation automatique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4590288" y="39776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position GPS est capturée en arrière-plan dès le scan, sans aucune action supplémentaire de l'employé. Coordonnées de repli si la permission est refusée.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083296" y="2148840"/>
            <a:ext cx="3566160" cy="3429000"/>
          </a:xfrm>
          <a:prstGeom prst="roundRect">
            <a:avLst>
              <a:gd name="adj" fmla="val 2400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500616" y="2468880"/>
            <a:ext cx="731520" cy="73152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18" name="Image 3" descr="wif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3496" y="265176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11896" y="33832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 natif</a:t>
            </a:r>
            <a:endParaRPr lang="en-US" sz="1550" dirty="0"/>
          </a:p>
        </p:txBody>
      </p:sp>
      <p:sp>
        <p:nvSpPr>
          <p:cNvPr id="20" name="Text 14"/>
          <p:cNvSpPr/>
          <p:nvPr/>
        </p:nvSpPr>
        <p:spPr>
          <a:xfrm>
            <a:off x="8357616" y="397764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réseau tombe ? Le pointage est déjà écrit en local, marqué « en attente ». Dès que la connexion revient, la synchronisation se déclenche seule.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HEXSEC  ·  POINTAGEPRO  ·  DATA DAY 2026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technique — cinq couches, une logique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7" name="Image 1" descr="deskt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847088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645920"/>
            <a:ext cx="2880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présentation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434840" y="1645920"/>
            <a:ext cx="6949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(PWA) · Android (Capacitor / APK) · Desktop (Electron) — une seule base de code HTML/CSS/JS rendue sur les trois cibles.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 rot="10800000">
            <a:off x="5989320" y="2404872"/>
            <a:ext cx="146304" cy="91440"/>
          </a:xfrm>
          <a:prstGeom prst="triangle">
            <a:avLst/>
          </a:prstGeom>
          <a:solidFill>
            <a:srgbClr val="E10600"/>
          </a:solidFill>
          <a:ln/>
        </p:spPr>
      </p:sp>
      <p:sp>
        <p:nvSpPr>
          <p:cNvPr id="11" name="Shape 7"/>
          <p:cNvSpPr/>
          <p:nvPr/>
        </p:nvSpPr>
        <p:spPr>
          <a:xfrm>
            <a:off x="548640" y="2532888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77240" y="2670048"/>
            <a:ext cx="457200" cy="45720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13" name="Image 2" descr="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779776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2578608"/>
            <a:ext cx="2880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logique applicative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434840" y="2578608"/>
            <a:ext cx="6949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scan QR, capture GPS, règles de pointage, calcul du taux de présence, contrôle d'accès employé/manager.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 rot="10800000">
            <a:off x="5989320" y="3337560"/>
            <a:ext cx="146304" cy="91440"/>
          </a:xfrm>
          <a:prstGeom prst="triangle">
            <a:avLst/>
          </a:prstGeom>
          <a:solidFill>
            <a:srgbClr val="E1060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3465576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3602736"/>
            <a:ext cx="457200" cy="45720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19" name="Image 3" descr="d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712464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3511296"/>
            <a:ext cx="2880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stockage local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434840" y="3511296"/>
            <a:ext cx="6949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piloté par Dexie.js — chaque pointage est écrit immédiatement sur l'appareil, avec un statut synchro / en_attente.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 rot="10800000">
            <a:off x="5989320" y="4270248"/>
            <a:ext cx="146304" cy="91440"/>
          </a:xfrm>
          <a:prstGeom prst="triangle">
            <a:avLst/>
          </a:prstGeom>
          <a:solidFill>
            <a:srgbClr val="E10600"/>
          </a:solidFill>
          <a:ln/>
        </p:spPr>
      </p:sp>
      <p:sp>
        <p:nvSpPr>
          <p:cNvPr id="23" name="Shape 17"/>
          <p:cNvSpPr/>
          <p:nvPr/>
        </p:nvSpPr>
        <p:spPr>
          <a:xfrm>
            <a:off x="548640" y="4398264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77240" y="4535424"/>
            <a:ext cx="457200" cy="45720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25" name="Image 4" descr="sync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4645152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463040" y="4443984"/>
            <a:ext cx="2880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Moteur de synchronisation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4434840" y="4443984"/>
            <a:ext cx="6949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automatique perte/reprise réseau (Service Worker + événements online/offline), file d'attente et ré-envoi différé.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 rot="10800000">
            <a:off x="5989320" y="5202936"/>
            <a:ext cx="146304" cy="91440"/>
          </a:xfrm>
          <a:prstGeom prst="triangle">
            <a:avLst/>
          </a:prstGeom>
          <a:solidFill>
            <a:srgbClr val="E10600"/>
          </a:solidFill>
          <a:ln/>
        </p:spPr>
      </p:sp>
      <p:sp>
        <p:nvSpPr>
          <p:cNvPr id="29" name="Shape 22"/>
          <p:cNvSpPr/>
          <p:nvPr/>
        </p:nvSpPr>
        <p:spPr>
          <a:xfrm>
            <a:off x="548640" y="5330952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161010"/>
          </a:solidFill>
          <a:ln w="12700">
            <a:solidFill>
              <a:srgbClr val="8C0018"/>
            </a:solidFill>
            <a:prstDash val="dash"/>
          </a:ln>
        </p:spPr>
      </p:sp>
      <p:sp>
        <p:nvSpPr>
          <p:cNvPr id="30" name="Shape 23"/>
          <p:cNvSpPr/>
          <p:nvPr/>
        </p:nvSpPr>
        <p:spPr>
          <a:xfrm>
            <a:off x="777240" y="5468112"/>
            <a:ext cx="457200" cy="457200"/>
          </a:xfrm>
          <a:prstGeom prst="ellipse">
            <a:avLst/>
          </a:prstGeom>
          <a:solidFill>
            <a:srgbClr val="2B0208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31" name="Image 5" descr="clou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5577840"/>
            <a:ext cx="237744" cy="23774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63040" y="5376672"/>
            <a:ext cx="2880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 cloud (roadmap)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4434840" y="5376672"/>
            <a:ext cx="6949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sécurisé Firebase / Supabase pour l'authentification serveur et la synchronisation multi-appareils en temps réel.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HEXSEC  ·  POINTAGEPRO  ·  DATA DAY 2026</a:t>
            </a:r>
            <a:endParaRPr lang="en-US" sz="85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LOGICIELLE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stack technologique, catégorie par catégorie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64240" cy="1170432"/>
          </a:xfrm>
          <a:prstGeom prst="roundRect">
            <a:avLst>
              <a:gd name="adj" fmla="val 5469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27632"/>
            <a:ext cx="1920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COMMUN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788920" y="1892808"/>
            <a:ext cx="493776" cy="49377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8" name="Image 1" descr="html5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020" y="2003908"/>
            <a:ext cx="271577" cy="27157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64992" y="1554480"/>
            <a:ext cx="1554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983480" y="1892808"/>
            <a:ext cx="493776" cy="49377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11" name="Image 2" descr="css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580" y="2003908"/>
            <a:ext cx="271577" cy="2715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559552" y="1554480"/>
            <a:ext cx="1554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7178040" y="1892808"/>
            <a:ext cx="493776" cy="49377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14" name="Image 3" descr="javascrip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9140" y="2003908"/>
            <a:ext cx="271577" cy="27157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54112" y="1554480"/>
            <a:ext cx="1554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9372600" y="1892808"/>
            <a:ext cx="493776" cy="49377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17" name="Image 4" descr="typescrip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3700" y="2003908"/>
            <a:ext cx="271577" cy="27157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948672" y="1554480"/>
            <a:ext cx="1554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548640" y="2834640"/>
            <a:ext cx="11064240" cy="1170432"/>
          </a:xfrm>
          <a:prstGeom prst="roundRect">
            <a:avLst>
              <a:gd name="adj" fmla="val 5469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777240" y="2907792"/>
            <a:ext cx="1920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MULTI-PLATEFORME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2788920" y="3172968"/>
            <a:ext cx="493776" cy="49377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22" name="Image 5" descr="pwa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0020" y="3284068"/>
            <a:ext cx="271577" cy="271577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364992" y="2834640"/>
            <a:ext cx="1554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/ Service Worker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4983480" y="3172968"/>
            <a:ext cx="493776" cy="49377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25" name="Image 6" descr="capacito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4580" y="3284068"/>
            <a:ext cx="271577" cy="271577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559552" y="2834640"/>
            <a:ext cx="1554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 (APK)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7178040" y="3172968"/>
            <a:ext cx="493776" cy="49377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28" name="Image 7" descr="electr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9140" y="3284068"/>
            <a:ext cx="271577" cy="271577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754112" y="2834640"/>
            <a:ext cx="1554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(Desktop)</a:t>
            </a:r>
            <a:endParaRPr lang="en-US" sz="1100" dirty="0"/>
          </a:p>
        </p:txBody>
      </p:sp>
      <p:sp>
        <p:nvSpPr>
          <p:cNvPr id="30" name="Shape 20"/>
          <p:cNvSpPr/>
          <p:nvPr/>
        </p:nvSpPr>
        <p:spPr>
          <a:xfrm>
            <a:off x="9372600" y="3172968"/>
            <a:ext cx="493776" cy="49377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31" name="Image 8" descr="android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83700" y="3284068"/>
            <a:ext cx="271577" cy="271577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948672" y="2834640"/>
            <a:ext cx="1554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natif</a:t>
            </a:r>
            <a:endParaRPr lang="en-US" sz="1100" dirty="0"/>
          </a:p>
        </p:txBody>
      </p:sp>
      <p:sp>
        <p:nvSpPr>
          <p:cNvPr id="33" name="Shape 22"/>
          <p:cNvSpPr/>
          <p:nvPr/>
        </p:nvSpPr>
        <p:spPr>
          <a:xfrm>
            <a:off x="548640" y="4114800"/>
            <a:ext cx="11064240" cy="1170432"/>
          </a:xfrm>
          <a:prstGeom prst="roundRect">
            <a:avLst>
              <a:gd name="adj" fmla="val 5469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777240" y="4187952"/>
            <a:ext cx="1920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&amp; SYNC</a:t>
            </a:r>
            <a:endParaRPr lang="en-US" sz="1150" dirty="0"/>
          </a:p>
        </p:txBody>
      </p:sp>
      <p:sp>
        <p:nvSpPr>
          <p:cNvPr id="35" name="Shape 24"/>
          <p:cNvSpPr/>
          <p:nvPr/>
        </p:nvSpPr>
        <p:spPr>
          <a:xfrm>
            <a:off x="2788920" y="4453128"/>
            <a:ext cx="493776" cy="49377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36" name="Image 9" descr="db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00020" y="4564228"/>
            <a:ext cx="271577" cy="271577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3364992" y="4114800"/>
            <a:ext cx="1554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</a:t>
            </a:r>
            <a:endParaRPr lang="en-US" sz="1100" dirty="0"/>
          </a:p>
        </p:txBody>
      </p:sp>
      <p:sp>
        <p:nvSpPr>
          <p:cNvPr id="38" name="Shape 26"/>
          <p:cNvSpPr/>
          <p:nvPr/>
        </p:nvSpPr>
        <p:spPr>
          <a:xfrm>
            <a:off x="4983480" y="4453128"/>
            <a:ext cx="493776" cy="49377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39" name="Image 10" descr="sqlit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94580" y="4564228"/>
            <a:ext cx="271577" cy="271577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5559552" y="4114800"/>
            <a:ext cx="1554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Dexie.js</a:t>
            </a:r>
            <a:endParaRPr lang="en-US" sz="1100" dirty="0"/>
          </a:p>
        </p:txBody>
      </p:sp>
      <p:sp>
        <p:nvSpPr>
          <p:cNvPr id="41" name="Shape 28"/>
          <p:cNvSpPr/>
          <p:nvPr/>
        </p:nvSpPr>
        <p:spPr>
          <a:xfrm>
            <a:off x="7178040" y="4453128"/>
            <a:ext cx="493776" cy="49377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42" name="Image 11" descr="sync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89140" y="4564228"/>
            <a:ext cx="271577" cy="271577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7754112" y="4114800"/>
            <a:ext cx="1554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offline-first</a:t>
            </a:r>
            <a:endParaRPr lang="en-US" sz="1100" dirty="0"/>
          </a:p>
        </p:txBody>
      </p:sp>
      <p:sp>
        <p:nvSpPr>
          <p:cNvPr id="44" name="Shape 30"/>
          <p:cNvSpPr/>
          <p:nvPr/>
        </p:nvSpPr>
        <p:spPr>
          <a:xfrm>
            <a:off x="9372600" y="4453128"/>
            <a:ext cx="493776" cy="49377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45" name="Image 12" descr="csv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83700" y="4564228"/>
            <a:ext cx="271577" cy="271577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9948672" y="4114800"/>
            <a:ext cx="1554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SheetJS / Export XLS-CSV</a:t>
            </a:r>
            <a:endParaRPr lang="en-US" sz="1100" dirty="0"/>
          </a:p>
        </p:txBody>
      </p:sp>
      <p:sp>
        <p:nvSpPr>
          <p:cNvPr id="47" name="Shape 32"/>
          <p:cNvSpPr/>
          <p:nvPr/>
        </p:nvSpPr>
        <p:spPr>
          <a:xfrm>
            <a:off x="548640" y="5394960"/>
            <a:ext cx="11064240" cy="1170432"/>
          </a:xfrm>
          <a:prstGeom prst="roundRect">
            <a:avLst>
              <a:gd name="adj" fmla="val 5469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48" name="Text 33"/>
          <p:cNvSpPr/>
          <p:nvPr/>
        </p:nvSpPr>
        <p:spPr>
          <a:xfrm>
            <a:off x="777240" y="5468112"/>
            <a:ext cx="19202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CAPTEURS &amp; OUTILS</a:t>
            </a:r>
            <a:endParaRPr lang="en-US" sz="1150" dirty="0"/>
          </a:p>
        </p:txBody>
      </p:sp>
      <p:sp>
        <p:nvSpPr>
          <p:cNvPr id="49" name="Shape 34"/>
          <p:cNvSpPr/>
          <p:nvPr/>
        </p:nvSpPr>
        <p:spPr>
          <a:xfrm>
            <a:off x="2788920" y="5733288"/>
            <a:ext cx="493776" cy="49377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50" name="Image 13" descr="camera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00020" y="5844388"/>
            <a:ext cx="271577" cy="271577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3364992" y="5394960"/>
            <a:ext cx="1554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html5-qrcode</a:t>
            </a:r>
            <a:endParaRPr lang="en-US" sz="1100" dirty="0"/>
          </a:p>
        </p:txBody>
      </p:sp>
      <p:sp>
        <p:nvSpPr>
          <p:cNvPr id="52" name="Shape 36"/>
          <p:cNvSpPr/>
          <p:nvPr/>
        </p:nvSpPr>
        <p:spPr>
          <a:xfrm>
            <a:off x="4983480" y="5733288"/>
            <a:ext cx="493776" cy="49377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53" name="Image 14" descr="geo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94580" y="5844388"/>
            <a:ext cx="271577" cy="271577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5559552" y="5394960"/>
            <a:ext cx="1554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API</a:t>
            </a:r>
            <a:endParaRPr lang="en-US" sz="1100" dirty="0"/>
          </a:p>
        </p:txBody>
      </p:sp>
      <p:sp>
        <p:nvSpPr>
          <p:cNvPr id="55" name="Shape 38"/>
          <p:cNvSpPr/>
          <p:nvPr/>
        </p:nvSpPr>
        <p:spPr>
          <a:xfrm>
            <a:off x="7178040" y="5733288"/>
            <a:ext cx="493776" cy="49377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56" name="Image 15" descr="vite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89140" y="5844388"/>
            <a:ext cx="271577" cy="271577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7754112" y="5394960"/>
            <a:ext cx="1554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(build)</a:t>
            </a:r>
            <a:endParaRPr lang="en-US" sz="1100" dirty="0"/>
          </a:p>
        </p:txBody>
      </p:sp>
      <p:sp>
        <p:nvSpPr>
          <p:cNvPr id="58" name="Shape 40"/>
          <p:cNvSpPr/>
          <p:nvPr/>
        </p:nvSpPr>
        <p:spPr>
          <a:xfrm>
            <a:off x="9372600" y="5733288"/>
            <a:ext cx="493776" cy="493776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59" name="Image 16" descr="github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83700" y="5844388"/>
            <a:ext cx="271577" cy="271577"/>
          </a:xfrm>
          <a:prstGeom prst="rect">
            <a:avLst/>
          </a:prstGeom>
        </p:spPr>
      </p:pic>
      <p:sp>
        <p:nvSpPr>
          <p:cNvPr id="60" name="Text 41"/>
          <p:cNvSpPr/>
          <p:nvPr/>
        </p:nvSpPr>
        <p:spPr>
          <a:xfrm>
            <a:off x="9948672" y="5394960"/>
            <a:ext cx="15544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(CI/CVS)</a:t>
            </a:r>
            <a:endParaRPr lang="en-US" sz="1100" dirty="0"/>
          </a:p>
        </p:txBody>
      </p:sp>
      <p:sp>
        <p:nvSpPr>
          <p:cNvPr id="61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HEXSEC  ·  POINTAGEPRO  ·  DATA DAY 2026</a:t>
            </a:r>
            <a:endParaRPr lang="en-US" sz="850" dirty="0"/>
          </a:p>
        </p:txBody>
      </p:sp>
      <p:sp>
        <p:nvSpPr>
          <p:cNvPr id="62" name="Text 4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cycle offline-first, étape par étape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pointage n'attend jamais le réseau : il est écrit en local avant même de savoir si une connexion existe.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2331720"/>
            <a:ext cx="1691640" cy="2651760"/>
          </a:xfrm>
          <a:prstGeom prst="roundRect">
            <a:avLst>
              <a:gd name="adj" fmla="val 4865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2648" y="2423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19556" y="2743200"/>
            <a:ext cx="658368" cy="658368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9" name="Image 1" descr="q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148" y="290779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" y="3566160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du QR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12648" y="4114800"/>
            <a:ext cx="14721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L'employé scanne son QR personnel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2194560" y="338328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2404872" y="2331720"/>
            <a:ext cx="1691640" cy="2651760"/>
          </a:xfrm>
          <a:prstGeom prst="roundRect">
            <a:avLst>
              <a:gd name="adj" fmla="val 4865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514600" y="2423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921508" y="2743200"/>
            <a:ext cx="658368" cy="658368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16" name="Image 2" descr="ge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2907792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14600" y="3566160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GPS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2514600" y="4114800"/>
            <a:ext cx="14721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récupérée en arrière-plan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096512" y="338328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4306824" y="2331720"/>
            <a:ext cx="1691640" cy="2651760"/>
          </a:xfrm>
          <a:prstGeom prst="roundRect">
            <a:avLst>
              <a:gd name="adj" fmla="val 4865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416552" y="2423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823460" y="2743200"/>
            <a:ext cx="658368" cy="658368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23" name="Image 3" descr="d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8052" y="2907792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416552" y="3566160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Écriture locale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416552" y="4114800"/>
            <a:ext cx="14721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immédiat dans IndexedDB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5998464" y="338328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6208776" y="2331720"/>
            <a:ext cx="1691640" cy="2651760"/>
          </a:xfrm>
          <a:prstGeom prst="roundRect">
            <a:avLst>
              <a:gd name="adj" fmla="val 4865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318504" y="2423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6725412" y="2743200"/>
            <a:ext cx="658368" cy="658368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30" name="Image 4" descr="war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0004" y="2907792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318504" y="3566160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« en attente »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6318504" y="4114800"/>
            <a:ext cx="14721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Marqué en file si hors-ligne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7900416" y="338328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27"/>
          <p:cNvSpPr/>
          <p:nvPr/>
        </p:nvSpPr>
        <p:spPr>
          <a:xfrm>
            <a:off x="8110728" y="2331720"/>
            <a:ext cx="1691640" cy="2651760"/>
          </a:xfrm>
          <a:prstGeom prst="roundRect">
            <a:avLst>
              <a:gd name="adj" fmla="val 4865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8220456" y="2423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8627364" y="2743200"/>
            <a:ext cx="658368" cy="658368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37" name="Image 5" descr="wifi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91956" y="2907792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8220456" y="3566160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réseau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8220456" y="4114800"/>
            <a:ext cx="14721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 des évènements online/offline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9802368" y="3383280"/>
            <a:ext cx="210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Shape 33"/>
          <p:cNvSpPr/>
          <p:nvPr/>
        </p:nvSpPr>
        <p:spPr>
          <a:xfrm>
            <a:off x="10012680" y="2331720"/>
            <a:ext cx="1691640" cy="2651760"/>
          </a:xfrm>
          <a:prstGeom prst="roundRect">
            <a:avLst>
              <a:gd name="adj" fmla="val 4865"/>
            </a:avLst>
          </a:prstGeom>
          <a:solidFill>
            <a:srgbClr val="180404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10122408" y="2423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43" name="Shape 35"/>
          <p:cNvSpPr/>
          <p:nvPr/>
        </p:nvSpPr>
        <p:spPr>
          <a:xfrm>
            <a:off x="10529316" y="2743200"/>
            <a:ext cx="658368" cy="658368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44" name="Image 6" descr="sync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3908" y="2907792"/>
            <a:ext cx="329184" cy="329184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0122408" y="3566160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Synchronisation auto</a:t>
            </a:r>
            <a:endParaRPr lang="en-US" sz="1250" dirty="0"/>
          </a:p>
        </p:txBody>
      </p:sp>
      <p:sp>
        <p:nvSpPr>
          <p:cNvPr id="46" name="Text 37"/>
          <p:cNvSpPr/>
          <p:nvPr/>
        </p:nvSpPr>
        <p:spPr>
          <a:xfrm>
            <a:off x="10122408" y="4114800"/>
            <a:ext cx="14721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« synchronisé » sans action</a:t>
            </a:r>
            <a:endParaRPr lang="en-US" sz="950" dirty="0"/>
          </a:p>
        </p:txBody>
      </p:sp>
      <p:sp>
        <p:nvSpPr>
          <p:cNvPr id="47" name="Shape 38"/>
          <p:cNvSpPr/>
          <p:nvPr/>
        </p:nvSpPr>
        <p:spPr>
          <a:xfrm>
            <a:off x="548640" y="525780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140404"/>
          </a:solidFill>
          <a:ln w="12700">
            <a:solidFill>
              <a:srgbClr val="8C0018"/>
            </a:solidFill>
            <a:prstDash val="solid"/>
          </a:ln>
        </p:spPr>
      </p:sp>
      <p:sp>
        <p:nvSpPr>
          <p:cNvPr id="48" name="Text 39"/>
          <p:cNvSpPr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</a:t>
            </a:r>
            <a:pPr indent="0" marL="0">
              <a:buNone/>
            </a:pPr>
            <a:r>
              <a:rPr lang="en-US" sz="12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dépendance réseau pour enregistrer une présence — la synchronisation est un bonus, jamais un prérequis.</a:t>
            </a:r>
            <a:endParaRPr lang="en-US" sz="1250" dirty="0"/>
          </a:p>
        </p:txBody>
      </p:sp>
      <p:sp>
        <p:nvSpPr>
          <p:cNvPr id="49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HEXSEC  ·  POINTAGEPRO  ·  DATA DAY 2026</a:t>
            </a:r>
            <a:endParaRPr lang="en-US" sz="850" dirty="0"/>
          </a:p>
        </p:txBody>
      </p:sp>
      <p:sp>
        <p:nvSpPr>
          <p:cNvPr id="50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&amp; ACCÈS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et identification employé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6" name="Image 1" descr="fingerprin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1720901"/>
            <a:ext cx="261518" cy="261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5727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unique par employé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234440" y="19202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 à la création du profil, propre à chaque personne, non réutilisable.</a:t>
            </a:r>
            <a:endParaRPr lang="en-US" sz="1080" dirty="0"/>
          </a:p>
        </p:txBody>
      </p:sp>
      <p:sp>
        <p:nvSpPr>
          <p:cNvPr id="9" name="Shape 5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10" name="Image 2" descr="downlo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2772461"/>
            <a:ext cx="261518" cy="261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6243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Téléchargeable en un clic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234440" y="29718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Distribué en badge imprimable ou en image numérique.</a:t>
            </a:r>
            <a:endParaRPr lang="en-US" sz="1080" dirty="0"/>
          </a:p>
        </p:txBody>
      </p:sp>
      <p:sp>
        <p:nvSpPr>
          <p:cNvPr id="13" name="Shape 8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14" name="Image 3" descr="circleus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3824021"/>
            <a:ext cx="261518" cy="261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6758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Connexion propre à l'employé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234440" y="4023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session est liée à une identité individuelle, pas à un appareil partagé.</a:t>
            </a:r>
            <a:endParaRPr lang="en-US" sz="1080" dirty="0"/>
          </a:p>
        </p:txBody>
      </p:sp>
      <p:sp>
        <p:nvSpPr>
          <p:cNvPr id="17" name="Shape 11"/>
          <p:cNvSpPr/>
          <p:nvPr/>
        </p:nvSpPr>
        <p:spPr>
          <a:xfrm>
            <a:off x="548640" y="4754880"/>
            <a:ext cx="502920" cy="50292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18" name="Image 4" descr="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4875581"/>
            <a:ext cx="261518" cy="26151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47274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immédiate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1234440" y="5074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retour visuel instantané valide chaque pointage, réussi ou en attente.</a:t>
            </a:r>
            <a:endParaRPr lang="en-US" sz="1080" dirty="0"/>
          </a:p>
        </p:txBody>
      </p:sp>
      <p:sp>
        <p:nvSpPr>
          <p:cNvPr id="21" name="Shape 14"/>
          <p:cNvSpPr/>
          <p:nvPr/>
        </p:nvSpPr>
        <p:spPr>
          <a:xfrm>
            <a:off x="6172200" y="1600200"/>
            <a:ext cx="5440680" cy="4206240"/>
          </a:xfrm>
          <a:prstGeom prst="roundRect">
            <a:avLst>
              <a:gd name="adj" fmla="val 1957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446520" y="1874520"/>
            <a:ext cx="502920" cy="50292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23" name="Image 5" descr="shiel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7221" y="1995221"/>
            <a:ext cx="261518" cy="26151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86600" y="192024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est déjà en place</a:t>
            </a:r>
            <a:endParaRPr lang="en-US" sz="1450" dirty="0"/>
          </a:p>
        </p:txBody>
      </p:sp>
      <p:sp>
        <p:nvSpPr>
          <p:cNvPr id="25" name="Text 17"/>
          <p:cNvSpPr/>
          <p:nvPr/>
        </p:nvSpPr>
        <p:spPr>
          <a:xfrm>
            <a:off x="6446520" y="24688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côté client, session liée au QR personnel, données écrites localement de manière chiffrée par le navigateur/l'OS avant toute synchronisation.</a:t>
            </a:r>
            <a:endParaRPr lang="en-US" sz="1100" dirty="0"/>
          </a:p>
        </p:txBody>
      </p:sp>
      <p:sp>
        <p:nvSpPr>
          <p:cNvPr id="26" name="Shape 18"/>
          <p:cNvSpPr/>
          <p:nvPr/>
        </p:nvSpPr>
        <p:spPr>
          <a:xfrm>
            <a:off x="6446520" y="3429000"/>
            <a:ext cx="4892040" cy="0"/>
          </a:xfrm>
          <a:prstGeom prst="line">
            <a:avLst/>
          </a:prstGeom>
          <a:noFill/>
          <a:ln w="12700">
            <a:solidFill>
              <a:srgbClr val="2A2222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446520" y="3611880"/>
            <a:ext cx="502920" cy="502920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28" name="Image 6" descr="usershiel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67221" y="3732581"/>
            <a:ext cx="261518" cy="26151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086600" y="3657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étape assumée</a:t>
            </a:r>
            <a:endParaRPr lang="en-US" sz="1450" dirty="0"/>
          </a:p>
        </p:txBody>
      </p:sp>
      <p:sp>
        <p:nvSpPr>
          <p:cNvPr id="30" name="Text 21"/>
          <p:cNvSpPr/>
          <p:nvPr/>
        </p:nvSpPr>
        <p:spPr>
          <a:xfrm>
            <a:off x="6446520" y="4206240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vers un backend sécurisé (Firebase / Supabase) pour l'authentification serveur, le chiffrement en transit et la gestion fine des rôles manager / employé.</a:t>
            </a:r>
            <a:endParaRPr lang="en-US" sz="1100" dirty="0"/>
          </a:p>
        </p:txBody>
      </p:sp>
      <p:sp>
        <p:nvSpPr>
          <p:cNvPr id="31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HEXSEC  ·  POINTAGEPRO  ·  DATA DAY 2026</a:t>
            </a:r>
            <a:endParaRPr lang="en-US" sz="850" dirty="0"/>
          </a:p>
        </p:txBody>
      </p:sp>
      <p:sp>
        <p:nvSpPr>
          <p:cNvPr id="32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Géolocalisation automatique, sans friction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7" name="Image 1" descr="ge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114550"/>
            <a:ext cx="297180" cy="2971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automatique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22960" y="3108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position GPS de l'appareil est récupérée via navigator.geolocation dès le scan du QR — aucune saisie manuelle.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315968" y="169164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90288" y="1965960"/>
            <a:ext cx="594360" cy="59436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12" name="Image 2" descr="ro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878" y="2114550"/>
            <a:ext cx="297180" cy="2971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90288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Coordonnées de repli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590288" y="3108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permission est refusée, une valeur de repli documentée est enregistrée plutôt qu'un échec silencieux.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8083296" y="169164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7616" y="1965960"/>
            <a:ext cx="594360" cy="59436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17" name="Image 3" descr="magnif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6206" y="2114550"/>
            <a:ext cx="297180" cy="2971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57616" y="2697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Visibilité manager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357616" y="3108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pointage affiche sa localisation dans le dashboard, pour confirmer la présence sur site.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425196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40404"/>
          </a:solidFill>
          <a:ln w="12700">
            <a:solidFill>
              <a:srgbClr val="8C0018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822960" y="4617720"/>
            <a:ext cx="685800" cy="68580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22" name="Image 4" descr="inf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410" y="4789170"/>
            <a:ext cx="342900" cy="3429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91640" y="4434840"/>
            <a:ext cx="9692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de la vie privée 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position n'est capturée qu'au moment précis du pointage, jamais en tâche de fond continue — un choix technique assumé pour rester proportionné à l'usage RH.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HEXSEC  ·  POINTAGEPRO  ·  DATA DAY 2026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MANAGER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&amp; exports : tout pour la direction RH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7" name="Image 1" descr="ch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2097634"/>
            <a:ext cx="285293" cy="285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7240" y="2633472"/>
            <a:ext cx="3136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Statistiques par employé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777240" y="2971800"/>
            <a:ext cx="3136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présence, retards, historique — calculés automatiquement, en un coup d'œil.</a:t>
            </a:r>
            <a:endParaRPr lang="en-US" sz="980" dirty="0"/>
          </a:p>
        </p:txBody>
      </p:sp>
      <p:sp>
        <p:nvSpPr>
          <p:cNvPr id="10" name="Shape 6"/>
          <p:cNvSpPr/>
          <p:nvPr/>
        </p:nvSpPr>
        <p:spPr>
          <a:xfrm>
            <a:off x="4279392" y="173736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07992" y="1965960"/>
            <a:ext cx="548640" cy="54864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12" name="Image 2" descr="csv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666" y="209763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07992" y="2633472"/>
            <a:ext cx="3136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CSV en un clic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4507992" y="2971800"/>
            <a:ext cx="3136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universel, compatible avec tout logiciel de paie ou tableur existant.</a:t>
            </a:r>
            <a:endParaRPr lang="en-US" sz="980" dirty="0"/>
          </a:p>
        </p:txBody>
      </p:sp>
      <p:sp>
        <p:nvSpPr>
          <p:cNvPr id="15" name="Shape 10"/>
          <p:cNvSpPr/>
          <p:nvPr/>
        </p:nvSpPr>
        <p:spPr>
          <a:xfrm>
            <a:off x="8010144" y="173736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238744" y="1965960"/>
            <a:ext cx="548640" cy="54864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17" name="Image 3" descr="exce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0418" y="209763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38744" y="2633472"/>
            <a:ext cx="3136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Excel (.xls) en un clic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8238744" y="2971800"/>
            <a:ext cx="3136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forme directement exploitable pour les rapports internes.</a:t>
            </a:r>
            <a:endParaRPr lang="en-US" sz="980" dirty="0"/>
          </a:p>
        </p:txBody>
      </p:sp>
      <p:sp>
        <p:nvSpPr>
          <p:cNvPr id="20" name="Shape 14"/>
          <p:cNvSpPr/>
          <p:nvPr/>
        </p:nvSpPr>
        <p:spPr>
          <a:xfrm>
            <a:off x="548640" y="361188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22" name="Image 4" descr="sign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397215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77240" y="4507992"/>
            <a:ext cx="3136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synchro en direct</a:t>
            </a:r>
            <a:endParaRPr lang="en-US" sz="1250" dirty="0"/>
          </a:p>
        </p:txBody>
      </p:sp>
      <p:sp>
        <p:nvSpPr>
          <p:cNvPr id="24" name="Text 17"/>
          <p:cNvSpPr/>
          <p:nvPr/>
        </p:nvSpPr>
        <p:spPr>
          <a:xfrm>
            <a:off x="777240" y="4846320"/>
            <a:ext cx="3136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indique « synchronisé » ou « en attente » — aucune ambiguïté sur la fiabilité.</a:t>
            </a:r>
            <a:endParaRPr lang="en-US" sz="980" dirty="0"/>
          </a:p>
        </p:txBody>
      </p:sp>
      <p:sp>
        <p:nvSpPr>
          <p:cNvPr id="25" name="Shape 18"/>
          <p:cNvSpPr/>
          <p:nvPr/>
        </p:nvSpPr>
        <p:spPr>
          <a:xfrm>
            <a:off x="4279392" y="361188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07992" y="3840480"/>
            <a:ext cx="548640" cy="54864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27" name="Image 5" descr="chartpi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9666" y="3972154"/>
            <a:ext cx="285293" cy="28529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507992" y="4507992"/>
            <a:ext cx="3136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présence automatisé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4507992" y="4846320"/>
            <a:ext cx="3136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Calculé en continu, sans ressaisie, à l'échelle d'un employé ou de toute l'équipe.</a:t>
            </a:r>
            <a:endParaRPr lang="en-US" sz="980" dirty="0"/>
          </a:p>
        </p:txBody>
      </p:sp>
      <p:sp>
        <p:nvSpPr>
          <p:cNvPr id="30" name="Shape 22"/>
          <p:cNvSpPr/>
          <p:nvPr/>
        </p:nvSpPr>
        <p:spPr>
          <a:xfrm>
            <a:off x="8010144" y="3611880"/>
            <a:ext cx="3593592" cy="1691640"/>
          </a:xfrm>
          <a:prstGeom prst="roundRect">
            <a:avLst>
              <a:gd name="adj" fmla="val 4865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238744" y="3840480"/>
            <a:ext cx="548640" cy="548640"/>
          </a:xfrm>
          <a:prstGeom prst="ellipse">
            <a:avLst/>
          </a:prstGeom>
          <a:solidFill>
            <a:srgbClr val="8C0018"/>
          </a:solidFill>
          <a:ln/>
        </p:spPr>
      </p:sp>
      <p:pic>
        <p:nvPicPr>
          <p:cNvPr id="32" name="Image 6" descr="user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0418" y="3972154"/>
            <a:ext cx="285293" cy="28529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238744" y="4507992"/>
            <a:ext cx="31363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d'équipe consolidée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8238744" y="4846320"/>
            <a:ext cx="3136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entre employés et entre sites, pour arbitrer rapidement.</a:t>
            </a:r>
            <a:endParaRPr lang="en-US" sz="980" dirty="0"/>
          </a:p>
        </p:txBody>
      </p:sp>
      <p:sp>
        <p:nvSpPr>
          <p:cNvPr id="35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HEXSEC  ·  POINTAGEPRO  ·  DATA DAY 2026</a:t>
            </a:r>
            <a:endParaRPr lang="en-US" sz="850" dirty="0"/>
          </a:p>
        </p:txBody>
      </p:sp>
      <p:sp>
        <p:nvSpPr>
          <p:cNvPr id="36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seule base de code, trois plateformes livrées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3566160" cy="3383280"/>
          </a:xfrm>
          <a:prstGeom prst="roundRect">
            <a:avLst>
              <a:gd name="adj" fmla="val 2432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920240" y="2011680"/>
            <a:ext cx="822960" cy="82296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7" name="Image 1" descr="glob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980" y="22174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22960" y="34747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installable depuis le navigateur. Fonctionne hors-ligne grâce au Service Worker, mise à jour instantanée pour tous.</a:t>
            </a:r>
            <a:endParaRPr lang="en-US" sz="1080" dirty="0"/>
          </a:p>
        </p:txBody>
      </p:sp>
      <p:sp>
        <p:nvSpPr>
          <p:cNvPr id="10" name="Shape 6"/>
          <p:cNvSpPr/>
          <p:nvPr/>
        </p:nvSpPr>
        <p:spPr>
          <a:xfrm>
            <a:off x="4315968" y="1691640"/>
            <a:ext cx="3566160" cy="3383280"/>
          </a:xfrm>
          <a:prstGeom prst="roundRect">
            <a:avLst>
              <a:gd name="adj" fmla="val 2432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87568" y="2011680"/>
            <a:ext cx="822960" cy="82296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12" name="Image 2" descr="androi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308" y="221742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498848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(APK)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590288" y="34747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Empaquetée avec Capacitor : caméra native pour le scan QR, notifications, publication Play Store en préparation.</a:t>
            </a:r>
            <a:endParaRPr lang="en-US" sz="1080" dirty="0"/>
          </a:p>
        </p:txBody>
      </p:sp>
      <p:sp>
        <p:nvSpPr>
          <p:cNvPr id="15" name="Shape 10"/>
          <p:cNvSpPr/>
          <p:nvPr/>
        </p:nvSpPr>
        <p:spPr>
          <a:xfrm>
            <a:off x="8083296" y="1691640"/>
            <a:ext cx="3566160" cy="3383280"/>
          </a:xfrm>
          <a:prstGeom prst="roundRect">
            <a:avLst>
              <a:gd name="adj" fmla="val 2432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9454896" y="2011680"/>
            <a:ext cx="822960" cy="82296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17" name="Image 3" descr="deskto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0636" y="22174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66176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357616" y="34747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Empaquetée avec Electron pour Windows / macOS / Linux : même interface, même moteur offline-first, poste fixe ou kiosque d'accueil.</a:t>
            </a:r>
            <a:endParaRPr lang="en-US" sz="1080" dirty="0"/>
          </a:p>
        </p:txBody>
      </p:sp>
      <p:sp>
        <p:nvSpPr>
          <p:cNvPr id="20" name="Text 14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</a:t>
            </a:r>
            <a:pPr algn="ctr" indent="0" marL="0">
              <a:buNone/>
            </a:pPr>
            <a:r>
              <a:rPr lang="en-US" sz="12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dépôt de code, moins de maintenance, déploiement simultané et itération plus rapide sur les trois cibles.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HEXSEC  ·  POINTAGEPRO  ·  DATA DAY 2026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PointagePro face aux alternatives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063240" cy="566928"/>
          </a:xfrm>
          <a:prstGeom prst="rect">
            <a:avLst/>
          </a:prstGeom>
          <a:solidFill>
            <a:srgbClr val="1E1616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600200"/>
            <a:ext cx="3063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Critère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611880" y="1600200"/>
            <a:ext cx="1691640" cy="566928"/>
          </a:xfrm>
          <a:prstGeom prst="rect">
            <a:avLst/>
          </a:prstGeom>
          <a:solidFill>
            <a:srgbClr val="1E1616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11880" y="160020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Papier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303520" y="1600200"/>
            <a:ext cx="2148840" cy="566928"/>
          </a:xfrm>
          <a:prstGeom prst="rect">
            <a:avLst/>
          </a:prstGeom>
          <a:solidFill>
            <a:srgbClr val="1E1616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3520" y="160020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Badgeuse physique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52360" y="1600200"/>
            <a:ext cx="2377440" cy="566928"/>
          </a:xfrm>
          <a:prstGeom prst="rect">
            <a:avLst/>
          </a:prstGeom>
          <a:solidFill>
            <a:srgbClr val="1E1616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52360" y="16002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internationales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829800" y="1600200"/>
            <a:ext cx="1783080" cy="566928"/>
          </a:xfrm>
          <a:prstGeom prst="rect">
            <a:avLst/>
          </a:prstGeom>
          <a:solidFill>
            <a:srgbClr val="E10600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29800" y="160020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PointagePro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2167128"/>
            <a:ext cx="3063240" cy="566928"/>
          </a:xfrm>
          <a:prstGeom prst="rect">
            <a:avLst/>
          </a:prstGeom>
          <a:solidFill>
            <a:srgbClr val="141414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2167128"/>
            <a:ext cx="3063240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9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Fonctionne hors-ligne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611880" y="2167128"/>
            <a:ext cx="1691640" cy="566928"/>
          </a:xfrm>
          <a:prstGeom prst="rect">
            <a:avLst/>
          </a:prstGeom>
          <a:solidFill>
            <a:srgbClr val="141414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11880" y="2167128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303520" y="2167128"/>
            <a:ext cx="2148840" cy="566928"/>
          </a:xfrm>
          <a:prstGeom prst="rect">
            <a:avLst/>
          </a:prstGeom>
          <a:solidFill>
            <a:srgbClr val="141414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03520" y="2167128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452360" y="2167128"/>
            <a:ext cx="2377440" cy="566928"/>
          </a:xfrm>
          <a:prstGeom prst="rect">
            <a:avLst/>
          </a:prstGeom>
          <a:solidFill>
            <a:srgbClr val="141414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452360" y="216712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9829800" y="2167128"/>
            <a:ext cx="1783080" cy="566928"/>
          </a:xfrm>
          <a:prstGeom prst="rect">
            <a:avLst/>
          </a:prstGeom>
          <a:solidFill>
            <a:srgbClr val="180404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29800" y="2167128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D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2734056"/>
            <a:ext cx="3063240" cy="566928"/>
          </a:xfrm>
          <a:prstGeom prst="rect">
            <a:avLst/>
          </a:prstGeom>
          <a:solidFill>
            <a:srgbClr val="1C1C1C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2734056"/>
            <a:ext cx="3063240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9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initial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611880" y="2734056"/>
            <a:ext cx="1691640" cy="566928"/>
          </a:xfrm>
          <a:prstGeom prst="rect">
            <a:avLst/>
          </a:prstGeom>
          <a:solidFill>
            <a:srgbClr val="1C1C1C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611880" y="2734056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303520" y="2734056"/>
            <a:ext cx="2148840" cy="566928"/>
          </a:xfrm>
          <a:prstGeom prst="rect">
            <a:avLst/>
          </a:prstGeom>
          <a:solidFill>
            <a:srgbClr val="1C1C1C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03520" y="2734056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300–800 $/unité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7452360" y="2734056"/>
            <a:ext cx="2377440" cy="566928"/>
          </a:xfrm>
          <a:prstGeom prst="rect">
            <a:avLst/>
          </a:prstGeom>
          <a:solidFill>
            <a:srgbClr val="1C1C1C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452360" y="27340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 $ premium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9829800" y="2734056"/>
            <a:ext cx="1783080" cy="566928"/>
          </a:xfrm>
          <a:prstGeom prst="rect">
            <a:avLst/>
          </a:prstGeom>
          <a:solidFill>
            <a:srgbClr val="180404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829800" y="2734056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existant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48640" y="3300984"/>
            <a:ext cx="3063240" cy="566928"/>
          </a:xfrm>
          <a:prstGeom prst="rect">
            <a:avLst/>
          </a:prstGeom>
          <a:solidFill>
            <a:srgbClr val="141414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3300984"/>
            <a:ext cx="3063240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9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Pensé pour PME locale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3611880" y="3300984"/>
            <a:ext cx="1691640" cy="566928"/>
          </a:xfrm>
          <a:prstGeom prst="rect">
            <a:avLst/>
          </a:prstGeom>
          <a:solidFill>
            <a:srgbClr val="141414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611880" y="3300984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303520" y="3300984"/>
            <a:ext cx="2148840" cy="566928"/>
          </a:xfrm>
          <a:prstGeom prst="rect">
            <a:avLst/>
          </a:prstGeom>
          <a:solidFill>
            <a:srgbClr val="141414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303520" y="3300984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7452360" y="3300984"/>
            <a:ext cx="2377440" cy="566928"/>
          </a:xfrm>
          <a:prstGeom prst="rect">
            <a:avLst/>
          </a:prstGeom>
          <a:solidFill>
            <a:srgbClr val="141414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452360" y="330098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9829800" y="3300984"/>
            <a:ext cx="1783080" cy="566928"/>
          </a:xfrm>
          <a:prstGeom prst="rect">
            <a:avLst/>
          </a:prstGeom>
          <a:solidFill>
            <a:srgbClr val="180404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829800" y="3300984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D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548640" y="3867912"/>
            <a:ext cx="3063240" cy="566928"/>
          </a:xfrm>
          <a:prstGeom prst="rect">
            <a:avLst/>
          </a:prstGeom>
          <a:solidFill>
            <a:srgbClr val="1C1C1C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8640" y="3867912"/>
            <a:ext cx="3063240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9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Preuve fiable / horodatée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3611880" y="3867912"/>
            <a:ext cx="1691640" cy="566928"/>
          </a:xfrm>
          <a:prstGeom prst="rect">
            <a:avLst/>
          </a:prstGeom>
          <a:solidFill>
            <a:srgbClr val="1C1C1C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611880" y="3867912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5303520" y="3867912"/>
            <a:ext cx="2148840" cy="566928"/>
          </a:xfrm>
          <a:prstGeom prst="rect">
            <a:avLst/>
          </a:prstGeom>
          <a:solidFill>
            <a:srgbClr val="1C1C1C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303520" y="3867912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D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7452360" y="3867912"/>
            <a:ext cx="2377440" cy="566928"/>
          </a:xfrm>
          <a:prstGeom prst="rect">
            <a:avLst/>
          </a:prstGeom>
          <a:solidFill>
            <a:srgbClr val="1C1C1C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452360" y="386791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D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9829800" y="3867912"/>
            <a:ext cx="1783080" cy="566928"/>
          </a:xfrm>
          <a:prstGeom prst="rect">
            <a:avLst/>
          </a:prstGeom>
          <a:solidFill>
            <a:srgbClr val="180404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829800" y="3867912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D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548640" y="4434840"/>
            <a:ext cx="3063240" cy="566928"/>
          </a:xfrm>
          <a:prstGeom prst="rect">
            <a:avLst/>
          </a:prstGeom>
          <a:solidFill>
            <a:srgbClr val="141414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48640" y="4434840"/>
            <a:ext cx="3063240" cy="56692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9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3611880" y="4434840"/>
            <a:ext cx="1691640" cy="566928"/>
          </a:xfrm>
          <a:prstGeom prst="rect">
            <a:avLst/>
          </a:prstGeom>
          <a:solidFill>
            <a:srgbClr val="141414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611880" y="4434840"/>
            <a:ext cx="1691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Immédiat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5303520" y="4434840"/>
            <a:ext cx="2148840" cy="566928"/>
          </a:xfrm>
          <a:prstGeom prst="rect">
            <a:avLst/>
          </a:prstGeom>
          <a:solidFill>
            <a:srgbClr val="141414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303520" y="4434840"/>
            <a:ext cx="2148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électrique</a:t>
            </a:r>
            <a:endParaRPr lang="en-US" sz="1050" dirty="0"/>
          </a:p>
        </p:txBody>
      </p:sp>
      <p:sp>
        <p:nvSpPr>
          <p:cNvPr id="61" name="Shape 58"/>
          <p:cNvSpPr/>
          <p:nvPr/>
        </p:nvSpPr>
        <p:spPr>
          <a:xfrm>
            <a:off x="7452360" y="4434840"/>
            <a:ext cx="2377440" cy="566928"/>
          </a:xfrm>
          <a:prstGeom prst="rect">
            <a:avLst/>
          </a:prstGeom>
          <a:solidFill>
            <a:srgbClr val="141414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452360" y="44348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lourde</a:t>
            </a:r>
            <a:endParaRPr lang="en-US" sz="1050" dirty="0"/>
          </a:p>
        </p:txBody>
      </p:sp>
      <p:sp>
        <p:nvSpPr>
          <p:cNvPr id="63" name="Shape 60"/>
          <p:cNvSpPr/>
          <p:nvPr/>
        </p:nvSpPr>
        <p:spPr>
          <a:xfrm>
            <a:off x="9829800" y="4434840"/>
            <a:ext cx="1783080" cy="566928"/>
          </a:xfrm>
          <a:prstGeom prst="rect">
            <a:avLst/>
          </a:prstGeom>
          <a:solidFill>
            <a:srgbClr val="180404"/>
          </a:solidFill>
          <a:ln w="6350">
            <a:solidFill>
              <a:srgbClr val="2A2222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829800" y="4434840"/>
            <a:ext cx="1783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 minutes</a:t>
            </a:r>
            <a:endParaRPr lang="en-US" sz="1050" dirty="0"/>
          </a:p>
        </p:txBody>
      </p:sp>
      <p:sp>
        <p:nvSpPr>
          <p:cNvPr id="65" name="Text 6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HEXSEC  ·  POINTAGEPRO  ·  DATA DAY 2026</a:t>
            </a:r>
            <a:endParaRPr lang="en-US" sz="850" dirty="0"/>
          </a:p>
        </p:txBody>
      </p:sp>
      <p:sp>
        <p:nvSpPr>
          <p:cNvPr id="66" name="Text 6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RÉEL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1247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déploiement pensé pour un budget de PME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874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25–50 $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" y="2651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mois d'hébergement (Firebase / Supabase, plan payant) pour 50 à 100 employés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37560" y="1691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0" y="1874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300–500 $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520440" y="2651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mise en place initiale, tout compris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26480" y="1691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63640" y="1874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300–800 $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309360" y="2651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d'une seule badgeuse physique à l'achat, sans installation ni maintenance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915400" y="169164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180404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52560" y="18745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0 $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9098280" y="265176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 supplémentaire — un smartphone suffit par employé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3977640"/>
            <a:ext cx="11064240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4279392"/>
            <a:ext cx="640080" cy="64008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19" name="Image 1" descr="sca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4439412"/>
            <a:ext cx="320040" cy="3200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691640" y="42062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calcul, sans détour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1691640" y="4572000"/>
            <a:ext cx="9646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50 employés, une seule badgeuse ne couvre déjà qu'un point d'accès et coûte au minimum autant que trois mois d'hébergement PointagePro. Notre modèle scale sans matériel supplémentaire : chaque nouvel employé n'ajoute qu'un QR code à générer.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HEXSEC  ·  POINTAGEPRO  ·  DATA DAY 2026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FEUILLE DE ROUTE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cœur fonctionne déjà — voici la suite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Scan, stockage offline, synchronisation et exports sont opérationnels dès aujourd'hui. Quatre chantiers structurent la suite.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22585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508760" y="2715768"/>
            <a:ext cx="685800" cy="68580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9" name="Image 1" descr="shie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210" y="2887218"/>
            <a:ext cx="342900" cy="3429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36301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sécurisé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49808" y="4114800"/>
            <a:ext cx="22037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Remplacer l'authentification côté client par une API serveur sécurisée.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337560" y="21488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502152" y="22585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297680" y="2715768"/>
            <a:ext cx="685800" cy="68580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15" name="Image 2" descr="clou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130" y="2887218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20440" y="36301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Synchronisation cloud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538728" y="4114800"/>
            <a:ext cx="22037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la synchro à un service distant — Firebase Firestore ou Supabase.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126480" y="21488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291072" y="22585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7086600" y="2715768"/>
            <a:ext cx="685800" cy="68580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21" name="Image 3" descr="googlepla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8050" y="2887218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9360" y="36301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Publication Play Store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327648" y="4114800"/>
            <a:ext cx="22037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Signer l'APK et réviser les permissions Capacitor avant publication publique.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915400" y="2148840"/>
            <a:ext cx="2606040" cy="2743200"/>
          </a:xfrm>
          <a:prstGeom prst="roundRect">
            <a:avLst>
              <a:gd name="adj" fmla="val 3158"/>
            </a:avLst>
          </a:prstGeom>
          <a:solidFill>
            <a:srgbClr val="141414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9079992" y="22585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9875520" y="2715768"/>
            <a:ext cx="685800" cy="68580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27" name="Image 4" descr="vi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6970" y="2887218"/>
            <a:ext cx="342900" cy="3429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098280" y="36301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automatisés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116568" y="4114800"/>
            <a:ext cx="22037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Couvrir la logique de synchronisation offline/online par des tests unitaires et d'intégration.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HEXSEC  ·  POINTAGEPRO  ·  DATA DAY 2026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ackgrou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640080" y="1965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se perd </a:t>
            </a:r>
            <a:pPr indent="0" marL="0">
              <a:buNone/>
            </a:pPr>
            <a:r>
              <a:rPr lang="en-US" sz="1900" b="1" i="1" dirty="0">
                <a:solidFill>
                  <a:srgbClr val="E10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tout se synchronise.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640080" y="2880360"/>
            <a:ext cx="6766560" cy="1417320"/>
          </a:xfrm>
          <a:prstGeom prst="roundRect">
            <a:avLst>
              <a:gd name="adj" fmla="val 5806"/>
            </a:avLst>
          </a:prstGeom>
          <a:solidFill>
            <a:srgbClr val="0F0F0F"/>
          </a:solidFill>
          <a:ln w="12700">
            <a:solidFill>
              <a:srgbClr val="2A222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" y="3154680"/>
            <a:ext cx="822960" cy="822960"/>
          </a:xfrm>
          <a:prstGeom prst="ellipse">
            <a:avLst/>
          </a:prstGeom>
          <a:solidFill>
            <a:srgbClr val="E10600"/>
          </a:solidFill>
          <a:ln/>
        </p:spPr>
      </p:sp>
      <p:pic>
        <p:nvPicPr>
          <p:cNvPr id="7" name="Image 1" descr="us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" y="3360420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65960" y="31089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 HexSec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965960" y="34747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Meddy  ·  Rajo  ·  Mario  ·  Kiady  ·  Rio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965960" y="3794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HexSec — communauté cybersécurité &amp; innovation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40080" y="4617720"/>
            <a:ext cx="347472" cy="34747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12" name="Image 2" descr="q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61" y="4695901"/>
            <a:ext cx="191110" cy="1911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4599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40080" y="5074920"/>
            <a:ext cx="347472" cy="34747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15" name="Image 3" descr="ge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61" y="5153101"/>
            <a:ext cx="191110" cy="19111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50566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GÉOLOCALISATION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40080" y="5532120"/>
            <a:ext cx="347472" cy="34747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18" name="Image 4" descr="wif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261" y="5610301"/>
            <a:ext cx="191110" cy="19111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55138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640080" y="5989320"/>
            <a:ext cx="347472" cy="347472"/>
          </a:xfrm>
          <a:prstGeom prst="ellipse">
            <a:avLst/>
          </a:prstGeom>
          <a:solidFill>
            <a:srgbClr val="1C1C1C"/>
          </a:solidFill>
          <a:ln w="12700">
            <a:solidFill>
              <a:srgbClr val="E10600"/>
            </a:solidFill>
            <a:prstDash val="solid"/>
          </a:ln>
        </p:spPr>
      </p:sp>
      <p:pic>
        <p:nvPicPr>
          <p:cNvPr id="21" name="Image 5" descr="glob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261" y="6067501"/>
            <a:ext cx="191110" cy="19111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97280" y="59710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· ANDROID · DESKTOP</a:t>
            </a:r>
            <a:endParaRPr lang="en-US" sz="1100" dirty="0"/>
          </a:p>
        </p:txBody>
      </p:sp>
      <p:pic>
        <p:nvPicPr>
          <p:cNvPr id="23" name="Image 6" descr="visue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0" y="1463040"/>
            <a:ext cx="4114800" cy="41148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A83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HEXSEC  ·  POINTAGEPRO  ·  DATA DAY 2026</a:t>
            </a:r>
            <a:endParaRPr lang="en-US" sz="850" dirty="0"/>
          </a:p>
        </p:txBody>
      </p:sp>
      <p:sp>
        <p:nvSpPr>
          <p:cNvPr id="25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2026-08-01T14:55:33Z</dcterms:created>
  <dcterms:modified xsi:type="dcterms:W3CDTF">2026-08-01T14:55:33Z</dcterms:modified>
</cp:coreProperties>
</file>